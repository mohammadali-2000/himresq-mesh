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10287000" cx="18288000"/>
  <p:notesSz cx="6858000" cy="9144000"/>
  <p:embeddedFontLst>
    <p:embeddedFont>
      <p:font typeface="IBM Plex Sans"/>
      <p:bold r:id="rId14"/>
      <p:boldItalic r:id="rId15"/>
    </p:embeddedFont>
    <p:embeddedFont>
      <p:font typeface="Caveat"/>
      <p:regular r:id="rId16"/>
      <p:bold r:id="rId17"/>
    </p:embeddedFont>
    <p:embeddedFont>
      <p:font typeface="Montserrat"/>
      <p:bold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font" Target="fonts/IBMPlexSans-bold.fntdata"/><Relationship Id="rId15" Type="http://schemas.openxmlformats.org/officeDocument/2006/relationships/font" Target="fonts/IBMPlexSans-boldItalic.fntdata"/><Relationship Id="rId16" Type="http://schemas.openxmlformats.org/officeDocument/2006/relationships/font" Target="fonts/Caveat-regular.fntdata"/><Relationship Id="rId17" Type="http://schemas.openxmlformats.org/officeDocument/2006/relationships/font" Target="fonts/Caveat-bold.fntdata"/><Relationship Id="rId18" Type="http://schemas.openxmlformats.org/officeDocument/2006/relationships/font" Target="fonts/Montserrat-bold.fntdata"/><Relationship Id="rId19" Type="http://schemas.openxmlformats.org/officeDocument/2006/relationships/font" Target="fonts/Montserra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pSp>
        <p:nvGrpSpPr>
          <p:cNvPr id="84" name="Google Shape;84;p13"/>
          <p:cNvGrpSpPr/>
          <p:nvPr/>
        </p:nvGrpSpPr>
        <p:grpSpPr>
          <a:xfrm>
            <a:off x="-803274" y="4586497"/>
            <a:ext cx="11896807" cy="2831587"/>
            <a:chOff x="0" y="-114300"/>
            <a:chExt cx="15862410" cy="3775450"/>
          </a:xfrm>
        </p:grpSpPr>
        <p:sp>
          <p:nvSpPr>
            <p:cNvPr id="85" name="Google Shape;85;p13"/>
            <p:cNvSpPr txBox="1"/>
            <p:nvPr/>
          </p:nvSpPr>
          <p:spPr>
            <a:xfrm>
              <a:off x="0" y="-114300"/>
              <a:ext cx="8473247" cy="1339654"/>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800"/>
                </a:spcAft>
                <a:buNone/>
                <a:defRPr sz="2800" b="1">
                  <a:solidFill>
                    <a:srgbClr val="1D1D1F"/>
                  </a:solidFill>
                  <a:latin typeface="Montserrat"/>
                </a:defRPr>
              </a:pPr>
              <a:r>
                <a:t>TEAM</a:t>
              </a:r>
              <a:endParaRPr/>
            </a:p>
          </p:txBody>
        </p:sp>
        <p:sp>
          <p:nvSpPr>
            <p:cNvPr id="86" name="Google Shape;86;p13"/>
            <p:cNvSpPr txBox="1"/>
            <p:nvPr/>
          </p:nvSpPr>
          <p:spPr>
            <a:xfrm>
              <a:off x="4917498" y="1498356"/>
              <a:ext cx="10944912" cy="2162794"/>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800"/>
                </a:spcAft>
                <a:buNone/>
                <a:defRPr sz="1300" b="0">
                  <a:solidFill>
                    <a:srgbClr val="1D1D1F"/>
                  </a:solidFill>
                  <a:latin typeface="IBM Plex Sans"/>
                </a:defRPr>
              </a:pPr>
              <a:r>
                <a:t>Team Name: Team HimResQ</a:t>
              </a:r>
              <a:endParaRPr/>
            </a:p>
            <a:p>
              <a:pPr>
                <a:lnSpc>
                  <a:spcPct val="120000"/>
                </a:lnSpc>
                <a:spcAft>
                  <a:spcPts val="800"/>
                </a:spcAft>
                <a:defRPr sz="1300" b="0">
                  <a:solidFill>
                    <a:srgbClr val="1D1D1F"/>
                  </a:solidFill>
                  <a:latin typeface="IBM Plex Sans"/>
                </a:defRPr>
              </a:pPr>
              <a:r>
                <a:t>Member Name: Syed Mohammad Ali</a:t>
              </a:r>
            </a:p>
            <a:p>
              <a:pPr>
                <a:lnSpc>
                  <a:spcPct val="120000"/>
                </a:lnSpc>
                <a:spcAft>
                  <a:spcPts val="800"/>
                </a:spcAft>
                <a:defRPr sz="1300" b="0">
                  <a:solidFill>
                    <a:srgbClr val="1D1D1F"/>
                  </a:solidFill>
                  <a:latin typeface="IBM Plex Sans"/>
                </a:defRPr>
              </a:pPr>
              <a:r>
                <a:t>Role: Lead Architect and Full Stack Artificial Intelligence Engineer</a:t>
              </a:r>
            </a:p>
            <a:p>
              <a:pPr>
                <a:lnSpc>
                  <a:spcPct val="120000"/>
                </a:lnSpc>
                <a:spcAft>
                  <a:spcPts val="800"/>
                </a:spcAft>
                <a:defRPr sz="1300" b="0">
                  <a:solidFill>
                    <a:srgbClr val="1D1D1F"/>
                  </a:solidFill>
                  <a:latin typeface="IBM Plex Sans"/>
                </a:defRPr>
              </a:pPr>
              <a:r>
                <a:t>Experience: Software Engineering Associate at Accenture and Anthropic Claude Certified Architect with Thirty One Industry Cloud and Artificial Intelligence Certifications</a:t>
              </a:r>
            </a:p>
          </p:txBody>
        </p:sp>
      </p:grpSp>
      <p:pic>
        <p:nvPicPr>
          <p:cNvPr id="87" name="Google Shape;87;p13" title="download (2).jpg"/>
          <p:cNvPicPr preferRelativeResize="0"/>
          <p:nvPr/>
        </p:nvPicPr>
        <p:blipFill rotWithShape="1">
          <a:blip r:embed="rId3">
            <a:alphaModFix/>
          </a:blip>
          <a:srcRect b="0" l="38928" r="16455" t="0"/>
          <a:stretch/>
        </p:blipFill>
        <p:spPr>
          <a:xfrm rot="-5400000">
            <a:off x="7123100" y="-7111200"/>
            <a:ext cx="4088375" cy="18326624"/>
          </a:xfrm>
          <a:prstGeom prst="rect">
            <a:avLst/>
          </a:prstGeom>
          <a:noFill/>
          <a:ln>
            <a:noFill/>
          </a:ln>
        </p:spPr>
      </p:pic>
      <p:pic>
        <p:nvPicPr>
          <p:cNvPr id="88" name="Google Shape;88;p13"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89" name="Google Shape;89;p13"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nvSpPr>
        <p:spPr>
          <a:xfrm>
            <a:off x="542925" y="2001834"/>
            <a:ext cx="8601075" cy="5309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800"/>
              </a:spcAft>
              <a:buNone/>
              <a:defRPr sz="2200" b="1">
                <a:solidFill>
                  <a:srgbClr val="1D1D1F"/>
                </a:solidFill>
                <a:latin typeface="Montserrat"/>
              </a:defRPr>
            </a:pPr>
            <a:r>
              <a:t>PROBLEM STATEMENT AND THEME</a:t>
            </a:r>
            <a:endParaRPr/>
          </a:p>
        </p:txBody>
      </p:sp>
      <p:grpSp>
        <p:nvGrpSpPr>
          <p:cNvPr id="95" name="Google Shape;95;p14"/>
          <p:cNvGrpSpPr/>
          <p:nvPr/>
        </p:nvGrpSpPr>
        <p:grpSpPr>
          <a:xfrm>
            <a:off x="1972243" y="2525665"/>
            <a:ext cx="11438558" cy="2321168"/>
            <a:chOff x="0" y="-9525"/>
            <a:chExt cx="15251410" cy="3094890"/>
          </a:xfrm>
        </p:grpSpPr>
        <p:sp>
          <p:nvSpPr>
            <p:cNvPr id="96" name="Google Shape;96;p14"/>
            <p:cNvSpPr txBox="1"/>
            <p:nvPr/>
          </p:nvSpPr>
          <p:spPr>
            <a:xfrm>
              <a:off x="0" y="-9525"/>
              <a:ext cx="14028700" cy="22447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800"/>
                </a:spcAft>
                <a:buNone/>
                <a:defRPr sz="1600" b="1">
                  <a:solidFill>
                    <a:srgbClr val="1D1D1F"/>
                  </a:solidFill>
                  <a:latin typeface="Montserrat"/>
                </a:defRPr>
              </a:pPr>
              <a:r>
                <a:t>HimResQ Mesh Emergency Architecture</a:t>
              </a:r>
              <a:endParaRPr b="0" i="0" sz="1800" u="none" cap="none" strike="noStrike">
                <a:solidFill>
                  <a:schemeClr val="dk1"/>
                </a:solidFill>
                <a:latin typeface="Calibri"/>
                <a:ea typeface="Calibri"/>
                <a:cs typeface="Calibri"/>
                <a:sym typeface="Calibri"/>
              </a:endParaRPr>
            </a:p>
          </p:txBody>
        </p:sp>
        <p:sp>
          <p:nvSpPr>
            <p:cNvPr id="97" name="Google Shape;97;p14"/>
            <p:cNvSpPr txBox="1"/>
            <p:nvPr/>
          </p:nvSpPr>
          <p:spPr>
            <a:xfrm>
              <a:off x="1222710" y="1408965"/>
              <a:ext cx="14028700" cy="1676400"/>
            </a:xfrm>
            <a:prstGeom prst="rect">
              <a:avLst/>
            </a:prstGeom>
            <a:noFill/>
            <a:ln>
              <a:noFill/>
            </a:ln>
          </p:spPr>
          <p:txBody>
            <a:bodyPr anchorCtr="0" anchor="t" bIns="0" lIns="0" spcFirstLastPara="1" rIns="0" wrap="square" tIns="0">
              <a:spAutoFit/>
            </a:bodyPr>
            <a:lstStyle/>
            <a:p>
              <a:pPr indent="-300580" lvl="1" marL="601160" marR="0" rtl="0" algn="l">
                <a:lnSpc>
                  <a:spcPct val="120000"/>
                </a:lnSpc>
                <a:spcBef>
                  <a:spcPts val="0"/>
                </a:spcBef>
                <a:spcAft>
                  <a:spcPts val="800"/>
                </a:spcAft>
                <a:buClr>
                  <a:srgbClr val="1D1D1F"/>
                </a:buClr>
                <a:buSzPts val="2784"/>
                <a:buFont typeface="Arial"/>
                <a:buChar char="•"/>
                <a:defRPr sz="1300" b="0">
                  <a:solidFill>
                    <a:srgbClr val="1D1D1F"/>
                  </a:solidFill>
                  <a:latin typeface="IBM Plex Sans"/>
                </a:defRPr>
              </a:pPr>
              <a:r>
                <a:t>1. Problem: Sudden cloudbursts and landslides in high altitude Himalayan valleys like Manali wipe out cellular towers power lines and road transit isolating thousands of people with zero communication signal.</a:t>
              </a:r>
              <a:endParaRPr/>
            </a:p>
            <a:p>
              <a:pPr>
                <a:lnSpc>
                  <a:spcPct val="120000"/>
                </a:lnSpc>
                <a:spcAft>
                  <a:spcPts val="800"/>
                </a:spcAft>
                <a:defRPr sz="1300" b="0">
                  <a:solidFill>
                    <a:srgbClr val="1D1D1F"/>
                  </a:solidFill>
                  <a:latin typeface="IBM Plex Sans"/>
                </a:defRPr>
              </a:pPr>
              <a:r>
                <a:t>2. Impact: Stranded victims cannot send distress signals or vitals. Rescue squads waste hours searching blind terrain because there is no way to triage casualties or know who requires urgent medical evacuation.</a:t>
              </a:r>
            </a:p>
            <a:p>
              <a:pPr>
                <a:lnSpc>
                  <a:spcPct val="120000"/>
                </a:lnSpc>
                <a:spcAft>
                  <a:spcPts val="800"/>
                </a:spcAft>
                <a:defRPr sz="1300" b="0">
                  <a:solidFill>
                    <a:srgbClr val="1D1D1F"/>
                  </a:solidFill>
                  <a:latin typeface="IBM Plex Sans"/>
                </a:defRPr>
              </a:pPr>
              <a:r>
                <a:t>3. Theme Alignment: Software Development and Disaster Resilience. HimResQ Mesh creates an instant decentralized mesh network with on device artificial intelligence running offline without cellular towers or internet.</a:t>
              </a:r>
            </a:p>
          </p:txBody>
        </p:sp>
      </p:grpSp>
      <p:pic>
        <p:nvPicPr>
          <p:cNvPr id="98" name="Google Shape;98;p14" title="pptnlogo.png"/>
          <p:cNvPicPr preferRelativeResize="0"/>
          <p:nvPr/>
        </p:nvPicPr>
        <p:blipFill>
          <a:blip r:embed="rId3">
            <a:alphaModFix/>
          </a:blip>
          <a:stretch>
            <a:fillRect/>
          </a:stretch>
        </p:blipFill>
        <p:spPr>
          <a:xfrm>
            <a:off x="0" y="0"/>
            <a:ext cx="18288000" cy="120551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nvSpPr>
        <p:spPr>
          <a:xfrm>
            <a:off x="534132" y="1962522"/>
            <a:ext cx="2771894" cy="1073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800"/>
              </a:spcAft>
              <a:buNone/>
              <a:defRPr sz="2200" b="1">
                <a:solidFill>
                  <a:srgbClr val="1D1D1F"/>
                </a:solidFill>
                <a:latin typeface="Montserrat"/>
              </a:defRPr>
            </a:pPr>
            <a:r>
              <a:t>SOLUTION</a:t>
            </a:r>
            <a:endParaRPr/>
          </a:p>
        </p:txBody>
      </p:sp>
      <p:grpSp>
        <p:nvGrpSpPr>
          <p:cNvPr id="104" name="Google Shape;104;p15"/>
          <p:cNvGrpSpPr/>
          <p:nvPr/>
        </p:nvGrpSpPr>
        <p:grpSpPr>
          <a:xfrm>
            <a:off x="1452328" y="2029197"/>
            <a:ext cx="11438558" cy="3352800"/>
            <a:chOff x="0" y="0"/>
            <a:chExt cx="15251410" cy="4470400"/>
          </a:xfrm>
        </p:grpSpPr>
        <p:sp>
          <p:nvSpPr>
            <p:cNvPr id="105" name="Google Shape;105;p15"/>
            <p:cNvSpPr txBox="1"/>
            <p:nvPr/>
          </p:nvSpPr>
          <p:spPr>
            <a:xfrm>
              <a:off x="0" y="0"/>
              <a:ext cx="14028700" cy="4470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800"/>
                </a:spcAft>
                <a:buNone/>
                <a:defRPr sz="1300" b="0">
                  <a:solidFill>
                    <a:srgbClr val="1D1D1F"/>
                  </a:solidFill>
                  <a:latin typeface="IBM Plex Sans"/>
                </a:defRPr>
              </a:pPr>
              <a:r>
                <a:t>1. Solution Overview: HimResQ Mesh is an offline emergency response system built for mountain disasters. It transforms every mobile phone and low cost radio into an intelligent relay node providing instant emergency SOS and on device artificial intelligence triage without internet.</a:t>
              </a:r>
              <a:endParaRPr b="0" i="0" sz="1800" u="none" cap="none" strike="noStrike">
                <a:solidFill>
                  <a:schemeClr val="dk1"/>
                </a:solidFill>
                <a:latin typeface="Calibri"/>
                <a:ea typeface="Calibri"/>
                <a:cs typeface="Calibri"/>
                <a:sym typeface="Calibri"/>
              </a:endParaRPr>
            </a:p>
            <a:p>
              <a:pPr>
                <a:lnSpc>
                  <a:spcPct val="120000"/>
                </a:lnSpc>
                <a:spcAft>
                  <a:spcPts val="800"/>
                </a:spcAft>
                <a:defRPr sz="1300" b="0">
                  <a:solidFill>
                    <a:srgbClr val="1D1D1F"/>
                  </a:solidFill>
                  <a:latin typeface="IBM Plex Sans"/>
                </a:defRPr>
              </a:pPr>
              <a:r>
                <a:t>2. Key Features: Peer to Peer Mesh Relay hops distress packets across devices using Bluetooth Low Energy and long range radio frequencies. On Device Artificial Intelligence runs an optimized small language model directly on the phone to extract vital signs and guide medical first aid. Offline Vector Mapping plots casualty locations and safe paths on local maps.</a:t>
              </a:r>
            </a:p>
            <a:p>
              <a:pPr>
                <a:lnSpc>
                  <a:spcPct val="120000"/>
                </a:lnSpc>
                <a:spcAft>
                  <a:spcPts val="800"/>
                </a:spcAft>
                <a:defRPr sz="1300" b="0">
                  <a:solidFill>
                    <a:srgbClr val="1D1D1F"/>
                  </a:solidFill>
                  <a:latin typeface="IBM Plex Sans"/>
                </a:defRPr>
              </a:pPr>
              <a:r>
                <a:t>3. Unique Value: Standard disaster apps fail completely when cell towers collapse. HimResQ Mesh requires zero internet zero satellite fees and zero cloud dependencies running fully off grid on battery power.</a:t>
              </a:r>
            </a:p>
          </p:txBody>
        </p:sp>
        <p:sp>
          <p:nvSpPr>
            <p:cNvPr id="106" name="Google Shape;106;p15"/>
            <p:cNvSpPr txBox="1"/>
            <p:nvPr/>
          </p:nvSpPr>
          <p:spPr>
            <a:xfrm>
              <a:off x="1222710" y="1399440"/>
              <a:ext cx="14028700" cy="574949"/>
            </a:xfrm>
            <a:prstGeom prst="rect">
              <a:avLst/>
            </a:prstGeom>
            <a:noFill/>
            <a:ln>
              <a:noFill/>
            </a:ln>
          </p:spPr>
          <p:txBody>
            <a:bodyPr anchorCtr="0" anchor="t" bIns="0" lIns="0" spcFirstLastPara="1" rIns="0" wrap="square" tIns="0">
              <a:spAutoFit/>
            </a:bodyPr>
            <a:lstStyle/>
            <a:p>
              <a:pPr indent="0" lvl="0" marL="0" marR="0" rtl="0" algn="l">
                <a:lnSpc>
                  <a:spcPct val="185611"/>
                </a:lnSpc>
                <a:spcBef>
                  <a:spcPts val="0"/>
                </a:spcBef>
                <a:spcAft>
                  <a:spcPts val="0"/>
                </a:spcAft>
                <a:buNone/>
              </a:pPr>
              <a:endParaRPr b="0" i="0" sz="1800" u="none" cap="none" strike="noStrike">
                <a:solidFill>
                  <a:schemeClr val="dk1"/>
                </a:solidFill>
                <a:latin typeface="Calibri"/>
                <a:ea typeface="Calibri"/>
                <a:cs typeface="Calibri"/>
                <a:sym typeface="Calibri"/>
              </a:endParaRPr>
            </a:p>
          </p:txBody>
        </p:sp>
      </p:grpSp>
      <p:pic>
        <p:nvPicPr>
          <p:cNvPr id="107" name="Google Shape;107;p15" title="pptnlogo.png"/>
          <p:cNvPicPr preferRelativeResize="0"/>
          <p:nvPr/>
        </p:nvPicPr>
        <p:blipFill>
          <a:blip r:embed="rId3">
            <a:alphaModFix/>
          </a:blip>
          <a:stretch>
            <a:fillRect/>
          </a:stretch>
        </p:blipFill>
        <p:spPr>
          <a:xfrm>
            <a:off x="0" y="0"/>
            <a:ext cx="18288000" cy="120551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nvSpPr>
        <p:spPr>
          <a:xfrm>
            <a:off x="742427" y="1962522"/>
            <a:ext cx="4706682" cy="1073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800"/>
              </a:spcAft>
              <a:buNone/>
              <a:defRPr sz="2200" b="1">
                <a:solidFill>
                  <a:srgbClr val="1D1D1F"/>
                </a:solidFill>
                <a:latin typeface="Montserrat"/>
              </a:defRPr>
            </a:pPr>
            <a:r>
              <a:t>ARCHITECTURE</a:t>
            </a:r>
            <a:endParaRPr/>
          </a:p>
        </p:txBody>
      </p:sp>
      <p:grpSp>
        <p:nvGrpSpPr>
          <p:cNvPr id="113" name="Google Shape;113;p16"/>
          <p:cNvGrpSpPr/>
          <p:nvPr/>
        </p:nvGrpSpPr>
        <p:grpSpPr>
          <a:xfrm>
            <a:off x="2419271" y="2681356"/>
            <a:ext cx="12462895" cy="2983291"/>
            <a:chOff x="0" y="0"/>
            <a:chExt cx="16617193" cy="3977721"/>
          </a:xfrm>
        </p:grpSpPr>
        <p:sp>
          <p:nvSpPr>
            <p:cNvPr id="114" name="Google Shape;114;p16"/>
            <p:cNvSpPr txBox="1"/>
            <p:nvPr/>
          </p:nvSpPr>
          <p:spPr>
            <a:xfrm>
              <a:off x="0" y="0"/>
              <a:ext cx="15284987" cy="243536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800"/>
                </a:spcAft>
                <a:buNone/>
                <a:defRPr sz="1300" b="0">
                  <a:solidFill>
                    <a:srgbClr val="1D1D1F"/>
                  </a:solidFill>
                  <a:latin typeface="IBM Plex Sans"/>
                </a:defRPr>
              </a:pPr>
              <a:r>
                <a:t>1. Technology Stack: Flutter mobile interface with local state caching. Bluetooth Low Energy mesh protocol and Meshtastic long range radio packet communication. Quantized Llama and Qwen models executing locally on device using llama cpp and ONNX Runtime. Offline topographical rendering using Leaflet and MapLibre with local vector tiles. Local SQLite Vec for fast vector storage.</a:t>
              </a:r>
              <a:endParaRPr/>
            </a:p>
            <a:p>
              <a:pPr>
                <a:lnSpc>
                  <a:spcPct val="120000"/>
                </a:lnSpc>
                <a:spcAft>
                  <a:spcPts val="800"/>
                </a:spcAft>
                <a:defRPr sz="1300" b="0">
                  <a:solidFill>
                    <a:srgbClr val="1D1D1F"/>
                  </a:solidFill>
                  <a:latin typeface="IBM Plex Sans"/>
                </a:defRPr>
              </a:pPr>
              <a:r>
                <a:t>2. Data Flow: Stranded user activates emergency SOS in airplane mode. On device artificial intelligence analyzes injuries and compresses vital signs into an ultra lightweight packet. Packet hops peer to peer across adjacent mobile nodes to the rescue base. Command post automatically plots casualty triage priorities on an offline map.</a:t>
              </a:r>
            </a:p>
            <a:p>
              <a:pPr>
                <a:lnSpc>
                  <a:spcPct val="120000"/>
                </a:lnSpc>
                <a:spcAft>
                  <a:spcPts val="800"/>
                </a:spcAft>
                <a:defRPr sz="1300" b="0">
                  <a:solidFill>
                    <a:srgbClr val="1D1D1F"/>
                  </a:solidFill>
                  <a:latin typeface="IBM Plex Sans"/>
                </a:defRPr>
              </a:pPr>
              <a:r>
                <a:t>3. APIs and Interfaces: Web Bluetooth protocol for peer device discovery. Serial hardware communication for long range radio nodes. Zero external cloud API calls.</a:t>
              </a:r>
            </a:p>
          </p:txBody>
        </p:sp>
        <p:sp>
          <p:nvSpPr>
            <p:cNvPr id="115" name="Google Shape;115;p16"/>
            <p:cNvSpPr txBox="1"/>
            <p:nvPr/>
          </p:nvSpPr>
          <p:spPr>
            <a:xfrm>
              <a:off x="1332206" y="3361663"/>
              <a:ext cx="15284987" cy="616058"/>
            </a:xfrm>
            <a:prstGeom prst="rect">
              <a:avLst/>
            </a:prstGeom>
            <a:noFill/>
            <a:ln>
              <a:noFill/>
            </a:ln>
          </p:spPr>
          <p:txBody>
            <a:bodyPr anchorCtr="0" anchor="t" bIns="0" lIns="0" spcFirstLastPara="1" rIns="0" wrap="square" tIns="0">
              <a:spAutoFit/>
            </a:bodyPr>
            <a:lstStyle/>
            <a:p>
              <a:pPr indent="0" lvl="0" marL="0" marR="0" rtl="0" algn="l">
                <a:lnSpc>
                  <a:spcPct val="202222"/>
                </a:lnSpc>
                <a:spcBef>
                  <a:spcPts val="0"/>
                </a:spcBef>
                <a:spcAft>
                  <a:spcPts val="0"/>
                </a:spcAft>
                <a:buNone/>
              </a:pPr>
              <a:endParaRPr b="0" i="0" sz="1800" u="none" cap="none" strike="noStrike">
                <a:solidFill>
                  <a:schemeClr val="dk1"/>
                </a:solidFill>
                <a:latin typeface="Calibri"/>
                <a:ea typeface="Calibri"/>
                <a:cs typeface="Calibri"/>
                <a:sym typeface="Calibri"/>
              </a:endParaRPr>
            </a:p>
          </p:txBody>
        </p:sp>
      </p:grpSp>
      <p:pic>
        <p:nvPicPr>
          <p:cNvPr id="116" name="Google Shape;116;p16" title="pptnlogo.png"/>
          <p:cNvPicPr preferRelativeResize="0"/>
          <p:nvPr/>
        </p:nvPicPr>
        <p:blipFill>
          <a:blip r:embed="rId3">
            <a:alphaModFix/>
          </a:blip>
          <a:stretch>
            <a:fillRect/>
          </a:stretch>
        </p:blipFill>
        <p:spPr>
          <a:xfrm>
            <a:off x="0" y="0"/>
            <a:ext cx="18288000" cy="120551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nvSpPr>
        <p:spPr>
          <a:xfrm>
            <a:off x="0" y="1913006"/>
            <a:ext cx="9064063" cy="5309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800"/>
              </a:spcAft>
              <a:buNone/>
              <a:defRPr sz="2200" b="1">
                <a:solidFill>
                  <a:srgbClr val="1D1D1F"/>
                </a:solidFill>
                <a:latin typeface="Montserrat"/>
              </a:defRPr>
            </a:pPr>
            <a:r>
              <a:t>MARKET RESEARCH AND ANALYSIS</a:t>
            </a:r>
            <a:endParaRPr/>
          </a:p>
        </p:txBody>
      </p:sp>
      <p:grpSp>
        <p:nvGrpSpPr>
          <p:cNvPr id="122" name="Google Shape;122;p17"/>
          <p:cNvGrpSpPr/>
          <p:nvPr/>
        </p:nvGrpSpPr>
        <p:grpSpPr>
          <a:xfrm>
            <a:off x="2963944" y="2617286"/>
            <a:ext cx="11438558" cy="3157191"/>
            <a:chOff x="0" y="0"/>
            <a:chExt cx="15251410" cy="4209589"/>
          </a:xfrm>
        </p:grpSpPr>
        <p:sp>
          <p:nvSpPr>
            <p:cNvPr id="123" name="Google Shape;123;p17"/>
            <p:cNvSpPr txBox="1"/>
            <p:nvPr/>
          </p:nvSpPr>
          <p:spPr>
            <a:xfrm>
              <a:off x="0" y="0"/>
              <a:ext cx="15251410" cy="303751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800"/>
                </a:spcAft>
                <a:buNone/>
                <a:defRPr sz="1300" b="0">
                  <a:solidFill>
                    <a:srgbClr val="1D1D1F"/>
                  </a:solidFill>
                  <a:latin typeface="IBM Plex Sans"/>
                </a:defRPr>
              </a:pPr>
              <a:r>
                <a:t>1. Target Users: Mountain tourists and trekkers in high altitude valleys such as Manali and Spiti. State disaster response authorities like Himachal Pradesh Disaster Management Authority and local police teams. Remote Himalayan homestays villages and mountain expedition operators.</a:t>
              </a:r>
              <a:endParaRPr/>
            </a:p>
            <a:p>
              <a:pPr>
                <a:lnSpc>
                  <a:spcPct val="120000"/>
                </a:lnSpc>
                <a:spcAft>
                  <a:spcPts val="800"/>
                </a:spcAft>
                <a:defRPr sz="1300" b="0">
                  <a:solidFill>
                    <a:srgbClr val="1D1D1F"/>
                  </a:solidFill>
                  <a:latin typeface="IBM Plex Sans"/>
                </a:defRPr>
              </a:pPr>
              <a:r>
                <a:t>2. Market Size: Over fifteen million tourists visit Himachal Pradesh every year. The global disaster emergency management and wilderness safety market exceeds eight billion dollars with rising demand for resilient off grid communications.</a:t>
              </a:r>
            </a:p>
            <a:p>
              <a:pPr>
                <a:lnSpc>
                  <a:spcPct val="120000"/>
                </a:lnSpc>
                <a:spcAft>
                  <a:spcPts val="800"/>
                </a:spcAft>
                <a:defRPr sz="1300" b="0">
                  <a:solidFill>
                    <a:srgbClr val="1D1D1F"/>
                  </a:solidFill>
                  <a:latin typeface="IBM Plex Sans"/>
                </a:defRPr>
              </a:pPr>
              <a:r>
                <a:t>3. Potential Revenue Model: Free core offline distress beacon for public users and tourists. Enterprise command and coordination software licensing for disaster response agencies and hotel associations. Pre configured emergency mesh hardware kits for trekking agencies.</a:t>
              </a:r>
            </a:p>
            <a:p>
              <a:pPr>
                <a:lnSpc>
                  <a:spcPct val="120000"/>
                </a:lnSpc>
                <a:spcAft>
                  <a:spcPts val="800"/>
                </a:spcAft>
                <a:defRPr sz="1300" b="0">
                  <a:solidFill>
                    <a:srgbClr val="1D1D1F"/>
                  </a:solidFill>
                  <a:latin typeface="IBM Plex Sans"/>
                </a:defRPr>
              </a:pPr>
              <a:r>
                <a:t>4. Expected Growth: Initial deployment across high risk tourism hubs in Himachal Pradesh and Uttarakhand followed by national expansion across mountain border regions.</a:t>
              </a:r>
            </a:p>
          </p:txBody>
        </p:sp>
        <p:sp>
          <p:nvSpPr>
            <p:cNvPr id="124" name="Google Shape;124;p17"/>
            <p:cNvSpPr txBox="1"/>
            <p:nvPr/>
          </p:nvSpPr>
          <p:spPr>
            <a:xfrm>
              <a:off x="1222710" y="3634640"/>
              <a:ext cx="14028700" cy="574949"/>
            </a:xfrm>
            <a:prstGeom prst="rect">
              <a:avLst/>
            </a:prstGeom>
            <a:noFill/>
            <a:ln>
              <a:noFill/>
            </a:ln>
          </p:spPr>
          <p:txBody>
            <a:bodyPr anchorCtr="0" anchor="t" bIns="0" lIns="0" spcFirstLastPara="1" rIns="0" wrap="square" tIns="0">
              <a:spAutoFit/>
            </a:bodyPr>
            <a:lstStyle/>
            <a:p>
              <a:pPr indent="0" lvl="0" marL="0" marR="0" rtl="0" algn="l">
                <a:lnSpc>
                  <a:spcPct val="185611"/>
                </a:lnSpc>
                <a:spcBef>
                  <a:spcPts val="0"/>
                </a:spcBef>
                <a:spcAft>
                  <a:spcPts val="0"/>
                </a:spcAft>
                <a:buNone/>
              </a:pPr>
              <a:endParaRPr b="0" i="0" sz="1800" u="none" cap="none" strike="noStrike">
                <a:solidFill>
                  <a:schemeClr val="dk1"/>
                </a:solidFill>
                <a:latin typeface="Calibri"/>
                <a:ea typeface="Calibri"/>
                <a:cs typeface="Calibri"/>
                <a:sym typeface="Calibri"/>
              </a:endParaRPr>
            </a:p>
          </p:txBody>
        </p:sp>
      </p:grpSp>
      <p:pic>
        <p:nvPicPr>
          <p:cNvPr id="125" name="Google Shape;125;p17" title="pptnlogo.png"/>
          <p:cNvPicPr preferRelativeResize="0"/>
          <p:nvPr/>
        </p:nvPicPr>
        <p:blipFill>
          <a:blip r:embed="rId3">
            <a:alphaModFix/>
          </a:blip>
          <a:stretch>
            <a:fillRect/>
          </a:stretch>
        </p:blipFill>
        <p:spPr>
          <a:xfrm>
            <a:off x="0" y="0"/>
            <a:ext cx="18288000" cy="120551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nvSpPr>
        <p:spPr>
          <a:xfrm>
            <a:off x="-2138647" y="1632214"/>
            <a:ext cx="9064063" cy="1073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800"/>
              </a:spcAft>
              <a:buNone/>
              <a:defRPr sz="2200" b="1">
                <a:solidFill>
                  <a:srgbClr val="1D1D1F"/>
                </a:solidFill>
                <a:latin typeface="Montserrat"/>
              </a:defRPr>
            </a:pPr>
            <a:r>
              <a:t>FUTURE SCOPE</a:t>
            </a:r>
            <a:endParaRPr/>
          </a:p>
        </p:txBody>
      </p:sp>
      <p:grpSp>
        <p:nvGrpSpPr>
          <p:cNvPr id="131" name="Google Shape;131;p18"/>
          <p:cNvGrpSpPr/>
          <p:nvPr/>
        </p:nvGrpSpPr>
        <p:grpSpPr>
          <a:xfrm>
            <a:off x="1206137" y="2405409"/>
            <a:ext cx="11438558" cy="3157191"/>
            <a:chOff x="0" y="0"/>
            <a:chExt cx="15251410" cy="4209589"/>
          </a:xfrm>
        </p:grpSpPr>
        <p:sp>
          <p:nvSpPr>
            <p:cNvPr id="132" name="Google Shape;132;p18"/>
            <p:cNvSpPr txBox="1"/>
            <p:nvPr/>
          </p:nvSpPr>
          <p:spPr>
            <a:xfrm>
              <a:off x="0" y="0"/>
              <a:ext cx="14028700" cy="2794000"/>
            </a:xfrm>
            <a:prstGeom prst="rect">
              <a:avLst/>
            </a:prstGeom>
            <a:noFill/>
            <a:ln>
              <a:noFill/>
            </a:ln>
          </p:spPr>
          <p:txBody>
            <a:bodyPr anchorCtr="0" anchor="t" bIns="0" lIns="0" spcFirstLastPara="1" rIns="0" wrap="square" tIns="0">
              <a:spAutoFit/>
            </a:bodyPr>
            <a:lstStyle/>
            <a:p>
              <a:pPr indent="-300580" lvl="1" marL="601160" marR="0" rtl="0" algn="l">
                <a:lnSpc>
                  <a:spcPct val="120000"/>
                </a:lnSpc>
                <a:spcBef>
                  <a:spcPts val="0"/>
                </a:spcBef>
                <a:spcAft>
                  <a:spcPts val="800"/>
                </a:spcAft>
                <a:buClr>
                  <a:srgbClr val="1D1D1F"/>
                </a:buClr>
                <a:buSzPts val="2784"/>
                <a:buFont typeface="Arial"/>
                <a:buChar char="•"/>
                <a:defRPr sz="1300" b="0">
                  <a:solidFill>
                    <a:srgbClr val="1D1D1F"/>
                  </a:solidFill>
                  <a:latin typeface="IBM Plex Sans"/>
                </a:defRPr>
              </a:pPr>
              <a:r>
                <a:t>1. Mobile App Deployment: Release native Android and iOS applications with pre installed offline maps and valley specific emergency guidance for every major Himalayan tourist route.</a:t>
              </a:r>
              <a:endParaRPr/>
            </a:p>
            <a:p>
              <a:pPr>
                <a:lnSpc>
                  <a:spcPct val="120000"/>
                </a:lnSpc>
                <a:spcAft>
                  <a:spcPts val="800"/>
                </a:spcAft>
                <a:defRPr sz="1300" b="0">
                  <a:solidFill>
                    <a:srgbClr val="1D1D1F"/>
                  </a:solidFill>
                  <a:latin typeface="IBM Plex Sans"/>
                </a:defRPr>
              </a:pPr>
              <a:r>
                <a:t>2. Artificial Intelligence Model Improvement: Integrate multimodal edge vision allowing users to photograph injuries or road blockages and obtain instant offline damage assessment.</a:t>
              </a:r>
            </a:p>
            <a:p>
              <a:pPr>
                <a:lnSpc>
                  <a:spcPct val="120000"/>
                </a:lnSpc>
                <a:spcAft>
                  <a:spcPts val="800"/>
                </a:spcAft>
                <a:defRPr sz="1300" b="0">
                  <a:solidFill>
                    <a:srgbClr val="1D1D1F"/>
                  </a:solidFill>
                  <a:latin typeface="IBM Plex Sans"/>
                </a:defRPr>
              </a:pPr>
              <a:r>
                <a:t>3. Enterprise Integrations: Connect directly with State Disaster Management Authority systems and hospital emergency intake pipelines for automated patient reception.</a:t>
              </a:r>
            </a:p>
            <a:p>
              <a:pPr>
                <a:lnSpc>
                  <a:spcPct val="120000"/>
                </a:lnSpc>
                <a:spcAft>
                  <a:spcPts val="800"/>
                </a:spcAft>
                <a:defRPr sz="1300" b="0">
                  <a:solidFill>
                    <a:srgbClr val="1D1D1F"/>
                  </a:solidFill>
                  <a:latin typeface="IBM Plex Sans"/>
                </a:defRPr>
              </a:pPr>
              <a:r>
                <a:t>4. Global Expansion: Scale deployment to mountain communities across the Alps Andes and Rocky Mountains to provide universal off grid safety.</a:t>
              </a:r>
            </a:p>
          </p:txBody>
        </p:sp>
        <p:sp>
          <p:nvSpPr>
            <p:cNvPr id="133" name="Google Shape;133;p18"/>
            <p:cNvSpPr txBox="1"/>
            <p:nvPr/>
          </p:nvSpPr>
          <p:spPr>
            <a:xfrm>
              <a:off x="1222710" y="3634640"/>
              <a:ext cx="14028700" cy="574949"/>
            </a:xfrm>
            <a:prstGeom prst="rect">
              <a:avLst/>
            </a:prstGeom>
            <a:noFill/>
            <a:ln>
              <a:noFill/>
            </a:ln>
          </p:spPr>
          <p:txBody>
            <a:bodyPr anchorCtr="0" anchor="t" bIns="0" lIns="0" spcFirstLastPara="1" rIns="0" wrap="square" tIns="0">
              <a:spAutoFit/>
            </a:bodyPr>
            <a:lstStyle/>
            <a:p>
              <a:pPr indent="0" lvl="0" marL="0" marR="0" rtl="0" algn="l">
                <a:lnSpc>
                  <a:spcPct val="185611"/>
                </a:lnSpc>
                <a:spcBef>
                  <a:spcPts val="0"/>
                </a:spcBef>
                <a:spcAft>
                  <a:spcPts val="0"/>
                </a:spcAft>
                <a:buNone/>
              </a:pPr>
              <a:endParaRPr b="0" i="0" sz="1800" u="none" cap="none" strike="noStrike">
                <a:solidFill>
                  <a:schemeClr val="dk1"/>
                </a:solidFill>
                <a:latin typeface="Calibri"/>
                <a:ea typeface="Calibri"/>
                <a:cs typeface="Calibri"/>
                <a:sym typeface="Calibri"/>
              </a:endParaRPr>
            </a:p>
          </p:txBody>
        </p:sp>
      </p:grpSp>
      <p:pic>
        <p:nvPicPr>
          <p:cNvPr id="134" name="Google Shape;134;p18" title="pptnlogo.png"/>
          <p:cNvPicPr preferRelativeResize="0"/>
          <p:nvPr/>
        </p:nvPicPr>
        <p:blipFill>
          <a:blip r:embed="rId3">
            <a:alphaModFix/>
          </a:blip>
          <a:stretch>
            <a:fillRect/>
          </a:stretch>
        </p:blipFill>
        <p:spPr>
          <a:xfrm>
            <a:off x="0" y="0"/>
            <a:ext cx="18288000" cy="120551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nvSpPr>
        <p:spPr>
          <a:xfrm>
            <a:off x="-1537303" y="1601204"/>
            <a:ext cx="9064063" cy="1073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800"/>
              </a:spcAft>
              <a:buNone/>
              <a:defRPr sz="2200" b="1">
                <a:solidFill>
                  <a:srgbClr val="1D1D1F"/>
                </a:solidFill>
                <a:latin typeface="Montserrat"/>
              </a:defRPr>
            </a:pPr>
            <a:r>
              <a:t>ADDITIONAL INNOVATION AND DEMO PLAN</a:t>
            </a:r>
            <a:endParaRPr/>
          </a:p>
        </p:txBody>
      </p:sp>
      <p:grpSp>
        <p:nvGrpSpPr>
          <p:cNvPr id="140" name="Google Shape;140;p19"/>
          <p:cNvGrpSpPr/>
          <p:nvPr/>
        </p:nvGrpSpPr>
        <p:grpSpPr>
          <a:xfrm>
            <a:off x="2196451" y="2405409"/>
            <a:ext cx="11438558" cy="2738091"/>
            <a:chOff x="0" y="0"/>
            <a:chExt cx="15251410" cy="3650789"/>
          </a:xfrm>
        </p:grpSpPr>
        <p:sp>
          <p:nvSpPr>
            <p:cNvPr id="141" name="Google Shape;141;p19"/>
            <p:cNvSpPr txBox="1"/>
            <p:nvPr/>
          </p:nvSpPr>
          <p:spPr>
            <a:xfrm>
              <a:off x="0" y="0"/>
              <a:ext cx="15251400" cy="2456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800"/>
                </a:spcAft>
                <a:buNone/>
                <a:defRPr sz="1300" b="0">
                  <a:solidFill>
                    <a:srgbClr val="1D1D1F"/>
                  </a:solidFill>
                  <a:latin typeface="IBM Plex Sans"/>
                </a:defRPr>
              </a:pPr>
              <a:r>
                <a:t>1. Competitive Advantage: Most disaster applications rely on cloud servers and become useless when telecommunications fail. HimResQ Mesh is built from the ground up for total blackouts with zero cloud reliance.</a:t>
              </a:r>
              <a:endParaRPr/>
            </a:p>
            <a:p>
              <a:pPr>
                <a:lnSpc>
                  <a:spcPct val="120000"/>
                </a:lnSpc>
                <a:spcAft>
                  <a:spcPts val="800"/>
                </a:spcAft>
                <a:defRPr sz="1300" b="0">
                  <a:solidFill>
                    <a:srgbClr val="1D1D1F"/>
                  </a:solidFill>
                  <a:latin typeface="IBM Plex Sans"/>
                </a:defRPr>
              </a:pPr>
              <a:r>
                <a:t>2. Working Prototype Readiness: Functional simulation architecture completed. Local quantized model inference verified on consumer laptops and smartphones with sub second response speed.</a:t>
              </a:r>
            </a:p>
            <a:p>
              <a:pPr>
                <a:lnSpc>
                  <a:spcPct val="120000"/>
                </a:lnSpc>
                <a:spcAft>
                  <a:spcPts val="800"/>
                </a:spcAft>
                <a:defRPr sz="1300" b="0">
                  <a:solidFill>
                    <a:srgbClr val="1D1D1F"/>
                  </a:solidFill>
                  <a:latin typeface="IBM Plex Sans"/>
                </a:defRPr>
              </a:pPr>
              <a:r>
                <a:t>3. Grand Finale Live Demo Plan: Live demonstration in Manali without any internet. We will switch devices into airplane mode transmit emergency distress packets across two phones and show on device artificial intelligence triage classification and map plotting live on stage.</a:t>
              </a:r>
            </a:p>
          </p:txBody>
        </p:sp>
        <p:sp>
          <p:nvSpPr>
            <p:cNvPr id="142" name="Google Shape;142;p19"/>
            <p:cNvSpPr txBox="1"/>
            <p:nvPr/>
          </p:nvSpPr>
          <p:spPr>
            <a:xfrm>
              <a:off x="1222710" y="3075840"/>
              <a:ext cx="14028700" cy="574949"/>
            </a:xfrm>
            <a:prstGeom prst="rect">
              <a:avLst/>
            </a:prstGeom>
            <a:noFill/>
            <a:ln>
              <a:noFill/>
            </a:ln>
          </p:spPr>
          <p:txBody>
            <a:bodyPr anchorCtr="0" anchor="t" bIns="0" lIns="0" spcFirstLastPara="1" rIns="0" wrap="square" tIns="0">
              <a:spAutoFit/>
            </a:bodyPr>
            <a:lstStyle/>
            <a:p>
              <a:pPr indent="0" lvl="0" marL="0" marR="0" rtl="0" algn="l">
                <a:lnSpc>
                  <a:spcPct val="185611"/>
                </a:lnSpc>
                <a:spcBef>
                  <a:spcPts val="0"/>
                </a:spcBef>
                <a:spcAft>
                  <a:spcPts val="0"/>
                </a:spcAft>
                <a:buNone/>
              </a:pPr>
              <a:endParaRPr b="0" i="0" sz="1800" u="none" cap="none" strike="noStrike">
                <a:solidFill>
                  <a:schemeClr val="dk1"/>
                </a:solidFill>
                <a:latin typeface="Calibri"/>
                <a:ea typeface="Calibri"/>
                <a:cs typeface="Calibri"/>
                <a:sym typeface="Calibri"/>
              </a:endParaRPr>
            </a:p>
          </p:txBody>
        </p:sp>
      </p:grpSp>
      <p:pic>
        <p:nvPicPr>
          <p:cNvPr id="143" name="Google Shape;143;p19" title="pptnlogo.png"/>
          <p:cNvPicPr preferRelativeResize="0"/>
          <p:nvPr/>
        </p:nvPicPr>
        <p:blipFill>
          <a:blip r:embed="rId3">
            <a:alphaModFix/>
          </a:blip>
          <a:stretch>
            <a:fillRect/>
          </a:stretch>
        </p:blipFill>
        <p:spPr>
          <a:xfrm>
            <a:off x="0" y="0"/>
            <a:ext cx="18288000" cy="120551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grpSp>
        <p:nvGrpSpPr>
          <p:cNvPr id="148" name="Google Shape;148;p20"/>
          <p:cNvGrpSpPr/>
          <p:nvPr/>
        </p:nvGrpSpPr>
        <p:grpSpPr>
          <a:xfrm>
            <a:off x="4239144" y="5736501"/>
            <a:ext cx="8898075" cy="2077107"/>
            <a:chOff x="0" y="180975"/>
            <a:chExt cx="11864100" cy="2769476"/>
          </a:xfrm>
        </p:grpSpPr>
        <p:sp>
          <p:nvSpPr>
            <p:cNvPr id="149" name="Google Shape;149;p20"/>
            <p:cNvSpPr txBox="1"/>
            <p:nvPr/>
          </p:nvSpPr>
          <p:spPr>
            <a:xfrm>
              <a:off x="0" y="180975"/>
              <a:ext cx="11864100" cy="369300"/>
            </a:xfrm>
            <a:prstGeom prst="rect">
              <a:avLst/>
            </a:prstGeom>
            <a:noFill/>
            <a:ln>
              <a:noFill/>
            </a:ln>
          </p:spPr>
          <p:txBody>
            <a:bodyPr anchorCtr="0" anchor="t" bIns="0" lIns="0" spcFirstLastPara="1" rIns="0" wrap="square" tIns="0">
              <a:spAutoFit/>
            </a:bodyPr>
            <a:lstStyle/>
            <a:p>
              <a:pPr indent="0" lvl="0" marL="0" marR="0" rtl="0" algn="ctr">
                <a:lnSpc>
                  <a:spcPct val="7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20"/>
            <p:cNvSpPr txBox="1"/>
            <p:nvPr/>
          </p:nvSpPr>
          <p:spPr>
            <a:xfrm>
              <a:off x="0" y="2581151"/>
              <a:ext cx="11864100" cy="369300"/>
            </a:xfrm>
            <a:prstGeom prst="rect">
              <a:avLst/>
            </a:prstGeom>
            <a:noFill/>
            <a:ln>
              <a:noFill/>
            </a:ln>
          </p:spPr>
          <p:txBody>
            <a:bodyPr anchorCtr="0" anchor="t" bIns="0" lIns="0" spcFirstLastPara="1" rIns="0" wrap="square" tIns="0">
              <a:spAutoFit/>
            </a:bodyPr>
            <a:lstStyle/>
            <a:p>
              <a:pPr indent="0" lvl="0" marL="0" marR="0" rtl="0" algn="ctr">
                <a:lnSpc>
                  <a:spcPct val="7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1" name="Google Shape;151;p20"/>
          <p:cNvGrpSpPr/>
          <p:nvPr/>
        </p:nvGrpSpPr>
        <p:grpSpPr>
          <a:xfrm>
            <a:off x="2554002" y="5409216"/>
            <a:ext cx="12268350" cy="1305429"/>
            <a:chOff x="0" y="19050"/>
            <a:chExt cx="16357800" cy="1740572"/>
          </a:xfrm>
        </p:grpSpPr>
        <p:sp>
          <p:nvSpPr>
            <p:cNvPr id="152" name="Google Shape;152;p20"/>
            <p:cNvSpPr txBox="1"/>
            <p:nvPr/>
          </p:nvSpPr>
          <p:spPr>
            <a:xfrm>
              <a:off x="0" y="19050"/>
              <a:ext cx="16357800" cy="3693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800"/>
                </a:spcAft>
                <a:buNone/>
                <a:defRPr sz="1300" b="0">
                  <a:solidFill>
                    <a:srgbClr val="1D1D1F"/>
                  </a:solidFill>
                  <a:latin typeface="IBM Plex Sans"/>
                </a:defRPr>
              </a:pPr>
              <a:r>
                <a:t>HimResQ Mesh: Building Resilient Mountain Communities</a:t>
              </a:r>
              <a:endParaRPr b="0" i="0" sz="1800" u="none" cap="none" strike="noStrike">
                <a:solidFill>
                  <a:schemeClr val="dk1"/>
                </a:solidFill>
                <a:latin typeface="Calibri"/>
                <a:ea typeface="Calibri"/>
                <a:cs typeface="Calibri"/>
                <a:sym typeface="Calibri"/>
              </a:endParaRPr>
            </a:p>
          </p:txBody>
        </p:sp>
        <p:sp>
          <p:nvSpPr>
            <p:cNvPr id="153" name="Google Shape;153;p20"/>
            <p:cNvSpPr txBox="1"/>
            <p:nvPr/>
          </p:nvSpPr>
          <p:spPr>
            <a:xfrm>
              <a:off x="0" y="1390322"/>
              <a:ext cx="16357800" cy="3693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800"/>
                </a:spcAft>
                <a:buNone/>
                <a:defRPr sz="1300" b="0">
                  <a:solidFill>
                    <a:srgbClr val="1D1D1F"/>
                  </a:solidFill>
                  <a:latin typeface="IBM Plex Sans"/>
                </a:defRPr>
              </a:pPr>
              <a:r>
                <a:t>Team HimResQ: Syed Mohammad Ali</a:t>
              </a:r>
              <a:endParaRPr b="0" i="0" sz="1800" u="none" cap="none" strike="noStrike">
                <a:solidFill>
                  <a:schemeClr val="dk1"/>
                </a:solidFill>
                <a:latin typeface="Calibri"/>
                <a:ea typeface="Calibri"/>
                <a:cs typeface="Calibri"/>
                <a:sym typeface="Calibri"/>
              </a:endParaRPr>
            </a:p>
          </p:txBody>
        </p:sp>
      </p:grpSp>
      <p:grpSp>
        <p:nvGrpSpPr>
          <p:cNvPr id="154" name="Google Shape;154;p20"/>
          <p:cNvGrpSpPr/>
          <p:nvPr/>
        </p:nvGrpSpPr>
        <p:grpSpPr>
          <a:xfrm>
            <a:off x="1873714" y="4696929"/>
            <a:ext cx="13628822" cy="4488047"/>
            <a:chOff x="2753902" y="4797891"/>
            <a:chExt cx="13628822" cy="4488047"/>
          </a:xfrm>
        </p:grpSpPr>
        <p:sp>
          <p:nvSpPr>
            <p:cNvPr id="155" name="Google Shape;155;p20"/>
            <p:cNvSpPr txBox="1"/>
            <p:nvPr/>
          </p:nvSpPr>
          <p:spPr>
            <a:xfrm rot="-348051">
              <a:off x="2847493" y="5401630"/>
              <a:ext cx="12071717" cy="2462422"/>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800"/>
                </a:spcAft>
                <a:buNone/>
                <a:defRPr sz="4800" b="1">
                  <a:solidFill>
                    <a:srgbClr val="1D1D1F"/>
                  </a:solidFill>
                  <a:latin typeface="Montserrat"/>
                </a:defRPr>
              </a:pPr>
              <a:r>
                <a:t>Thank</a:t>
              </a:r>
              <a:endParaRPr>
                <a:latin typeface="Caveat"/>
                <a:ea typeface="Caveat"/>
                <a:cs typeface="Caveat"/>
                <a:sym typeface="Caveat"/>
              </a:endParaRPr>
            </a:p>
          </p:txBody>
        </p:sp>
        <p:sp>
          <p:nvSpPr>
            <p:cNvPr id="156" name="Google Shape;156;p20"/>
            <p:cNvSpPr txBox="1"/>
            <p:nvPr/>
          </p:nvSpPr>
          <p:spPr>
            <a:xfrm>
              <a:off x="4695023" y="6732039"/>
              <a:ext cx="11687700" cy="2553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800"/>
                </a:spcAft>
                <a:buNone/>
                <a:defRPr sz="4800" b="1">
                  <a:solidFill>
                    <a:srgbClr val="1D1D1F"/>
                  </a:solidFill>
                  <a:latin typeface="Montserrat"/>
                </a:defRPr>
              </a:pPr>
              <a:r>
                <a:t>you!</a:t>
              </a:r>
              <a:endParaRPr>
                <a:latin typeface="Caveat"/>
                <a:ea typeface="Caveat"/>
                <a:cs typeface="Caveat"/>
                <a:sym typeface="Caveat"/>
              </a:endParaRPr>
            </a:p>
          </p:txBody>
        </p:sp>
      </p:grpSp>
      <p:pic>
        <p:nvPicPr>
          <p:cNvPr id="157" name="Google Shape;157;p20" title="download (2).jpg"/>
          <p:cNvPicPr preferRelativeResize="0"/>
          <p:nvPr/>
        </p:nvPicPr>
        <p:blipFill rotWithShape="1">
          <a:blip r:embed="rId3">
            <a:alphaModFix/>
          </a:blip>
          <a:srcRect b="0" l="38928" r="16455" t="0"/>
          <a:stretch/>
        </p:blipFill>
        <p:spPr>
          <a:xfrm rot="-5400000">
            <a:off x="7123100" y="-7111200"/>
            <a:ext cx="4088375" cy="18326624"/>
          </a:xfrm>
          <a:prstGeom prst="rect">
            <a:avLst/>
          </a:prstGeom>
          <a:noFill/>
          <a:ln>
            <a:noFill/>
          </a:ln>
        </p:spPr>
      </p:pic>
      <p:pic>
        <p:nvPicPr>
          <p:cNvPr id="158" name="Google Shape;158;p20"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159" name="Google Shape;159;p20"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